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4B6E33-A17A-4A27-9D2B-5D4F76A25C3E}">
  <a:tblStyle styleId="{A24B6E33-A17A-4A27-9D2B-5D4F76A25C3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5.xml"/><Relationship Id="rId22" Type="http://schemas.openxmlformats.org/officeDocument/2006/relationships/font" Target="fonts/Roboto-italic.fntdata"/><Relationship Id="rId10" Type="http://schemas.openxmlformats.org/officeDocument/2006/relationships/slide" Target="slides/slide4.xml"/><Relationship Id="rId21" Type="http://schemas.openxmlformats.org/officeDocument/2006/relationships/font" Target="fonts/Roboto-bold.fntdata"/><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7e150669b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7e150669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7e150669b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7e150669b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7e150669b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7e150669b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7e150669b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7e150669b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7e150669b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7e150669b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7e150669b8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7e150669b8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7e150669b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7e150669b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7e150669b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7e150669b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c9ec65875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c9ec65875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c9ec65875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c9ec65875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9ec65875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9ec65875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9ec65875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c9ec65875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Machine Learning in 5g Beamforming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5g Beamforming</a:t>
            </a:r>
            <a:endParaRPr/>
          </a:p>
        </p:txBody>
      </p:sp>
      <p:sp>
        <p:nvSpPr>
          <p:cNvPr id="60" name="Google Shape;60;p14"/>
          <p:cNvSpPr txBox="1"/>
          <p:nvPr>
            <p:ph idx="1" type="body"/>
          </p:nvPr>
        </p:nvSpPr>
        <p:spPr>
          <a:xfrm>
            <a:off x="311700" y="1152475"/>
            <a:ext cx="8520600" cy="3826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solidFill>
                  <a:srgbClr val="313131"/>
                </a:solidFill>
                <a:highlight>
                  <a:srgbClr val="FFFFFF"/>
                </a:highlight>
                <a:latin typeface="Roboto"/>
                <a:ea typeface="Roboto"/>
                <a:cs typeface="Roboto"/>
                <a:sym typeface="Roboto"/>
              </a:rPr>
              <a:t>Beamforming uses phased array </a:t>
            </a:r>
            <a:r>
              <a:rPr lang="en" sz="1200">
                <a:solidFill>
                  <a:srgbClr val="313131"/>
                </a:solidFill>
                <a:highlight>
                  <a:srgbClr val="FFFFFF"/>
                </a:highlight>
                <a:latin typeface="Roboto"/>
                <a:ea typeface="Roboto"/>
                <a:cs typeface="Roboto"/>
                <a:sym typeface="Roboto"/>
              </a:rPr>
              <a:t>antenna</a:t>
            </a:r>
            <a:r>
              <a:rPr lang="en" sz="1200">
                <a:solidFill>
                  <a:srgbClr val="313131"/>
                </a:solidFill>
                <a:highlight>
                  <a:srgbClr val="FFFFFF"/>
                </a:highlight>
                <a:latin typeface="Roboto"/>
                <a:ea typeface="Roboto"/>
                <a:cs typeface="Roboto"/>
                <a:sym typeface="Roboto"/>
              </a:rPr>
              <a:t> systems to focus the wireless signal toward a specific receiver or target instead of an omnidirectional broadcast. </a:t>
            </a:r>
            <a:endParaRPr sz="1200">
              <a:solidFill>
                <a:srgbClr val="313131"/>
              </a:solidFill>
              <a:highlight>
                <a:srgbClr val="FFFFFF"/>
              </a:highlight>
              <a:latin typeface="Roboto"/>
              <a:ea typeface="Roboto"/>
              <a:cs typeface="Roboto"/>
              <a:sym typeface="Roboto"/>
            </a:endParaRPr>
          </a:p>
          <a:p>
            <a:pPr indent="0" lvl="0" marL="0" rtl="0" algn="l">
              <a:spcBef>
                <a:spcPts val="1200"/>
              </a:spcBef>
              <a:spcAft>
                <a:spcPts val="0"/>
              </a:spcAft>
              <a:buNone/>
            </a:pPr>
            <a:r>
              <a:rPr lang="en" sz="1200">
                <a:solidFill>
                  <a:srgbClr val="313131"/>
                </a:solidFill>
                <a:highlight>
                  <a:srgbClr val="FFFFFF"/>
                </a:highlight>
                <a:latin typeface="Roboto"/>
                <a:ea typeface="Roboto"/>
                <a:cs typeface="Roboto"/>
                <a:sym typeface="Roboto"/>
              </a:rPr>
              <a:t>The physical structure needed to implement beamforming is an array of antennas regularly spaced in two dimensions. The direction of the emitted beam is determined by controlling the phases and amplitudes of the signals sent to the individual antennas, resulting in constructive interference in the desired direction and destructive interference in other directions.</a:t>
            </a:r>
            <a:endParaRPr sz="1200">
              <a:solidFill>
                <a:srgbClr val="313131"/>
              </a:solidFill>
              <a:highlight>
                <a:srgbClr val="FFFFFF"/>
              </a:highlight>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lang="en" sz="1200">
                <a:solidFill>
                  <a:srgbClr val="313131"/>
                </a:solidFill>
                <a:highlight>
                  <a:srgbClr val="FFFFFF"/>
                </a:highlight>
                <a:latin typeface="Roboto"/>
                <a:ea typeface="Roboto"/>
                <a:cs typeface="Roboto"/>
                <a:sym typeface="Roboto"/>
              </a:rPr>
              <a:t>Some of the benefits of beamforming include:</a:t>
            </a:r>
            <a:endParaRPr sz="1200">
              <a:solidFill>
                <a:srgbClr val="313131"/>
              </a:solidFill>
              <a:highlight>
                <a:srgbClr val="FFFFFF"/>
              </a:highlight>
              <a:latin typeface="Roboto"/>
              <a:ea typeface="Roboto"/>
              <a:cs typeface="Roboto"/>
              <a:sym typeface="Roboto"/>
            </a:endParaRPr>
          </a:p>
          <a:p>
            <a:pPr indent="-304800" lvl="0" marL="838200" rtl="0" algn="l">
              <a:spcBef>
                <a:spcPts val="2300"/>
              </a:spcBef>
              <a:spcAft>
                <a:spcPts val="0"/>
              </a:spcAft>
              <a:buClr>
                <a:srgbClr val="313131"/>
              </a:buClr>
              <a:buSzPts val="1200"/>
              <a:buFont typeface="Roboto"/>
              <a:buChar char="●"/>
            </a:pPr>
            <a:r>
              <a:rPr lang="en" sz="1200">
                <a:solidFill>
                  <a:srgbClr val="313131"/>
                </a:solidFill>
                <a:highlight>
                  <a:srgbClr val="FFFFFF"/>
                </a:highlight>
                <a:latin typeface="Roboto"/>
                <a:ea typeface="Roboto"/>
                <a:cs typeface="Roboto"/>
                <a:sym typeface="Roboto"/>
              </a:rPr>
              <a:t>Improved signal quality</a:t>
            </a:r>
            <a:endParaRPr sz="1200">
              <a:solidFill>
                <a:srgbClr val="313131"/>
              </a:solidFill>
              <a:highlight>
                <a:srgbClr val="FFFFFF"/>
              </a:highlight>
              <a:latin typeface="Roboto"/>
              <a:ea typeface="Roboto"/>
              <a:cs typeface="Roboto"/>
              <a:sym typeface="Roboto"/>
            </a:endParaRPr>
          </a:p>
          <a:p>
            <a:pPr indent="-304800" lvl="0" marL="838200" rtl="0" algn="l">
              <a:spcBef>
                <a:spcPts val="0"/>
              </a:spcBef>
              <a:spcAft>
                <a:spcPts val="0"/>
              </a:spcAft>
              <a:buClr>
                <a:srgbClr val="313131"/>
              </a:buClr>
              <a:buSzPts val="1200"/>
              <a:buFont typeface="Roboto"/>
              <a:buChar char="●"/>
            </a:pPr>
            <a:r>
              <a:rPr lang="en" sz="1200">
                <a:solidFill>
                  <a:srgbClr val="313131"/>
                </a:solidFill>
                <a:highlight>
                  <a:srgbClr val="FFFFFF"/>
                </a:highlight>
                <a:latin typeface="Roboto"/>
                <a:ea typeface="Roboto"/>
                <a:cs typeface="Roboto"/>
                <a:sym typeface="Roboto"/>
              </a:rPr>
              <a:t>Reduced interference</a:t>
            </a:r>
            <a:endParaRPr sz="1200">
              <a:solidFill>
                <a:srgbClr val="313131"/>
              </a:solidFill>
              <a:highlight>
                <a:srgbClr val="FFFFFF"/>
              </a:highlight>
              <a:latin typeface="Roboto"/>
              <a:ea typeface="Roboto"/>
              <a:cs typeface="Roboto"/>
              <a:sym typeface="Roboto"/>
            </a:endParaRPr>
          </a:p>
          <a:p>
            <a:pPr indent="-304800" lvl="0" marL="838200" rtl="0" algn="l">
              <a:spcBef>
                <a:spcPts val="0"/>
              </a:spcBef>
              <a:spcAft>
                <a:spcPts val="0"/>
              </a:spcAft>
              <a:buClr>
                <a:srgbClr val="313131"/>
              </a:buClr>
              <a:buSzPts val="1200"/>
              <a:buFont typeface="Roboto"/>
              <a:buChar char="●"/>
            </a:pPr>
            <a:r>
              <a:rPr lang="en" sz="1200">
                <a:solidFill>
                  <a:srgbClr val="313131"/>
                </a:solidFill>
                <a:highlight>
                  <a:srgbClr val="FFFFFF"/>
                </a:highlight>
                <a:latin typeface="Roboto"/>
                <a:ea typeface="Roboto"/>
                <a:cs typeface="Roboto"/>
                <a:sym typeface="Roboto"/>
              </a:rPr>
              <a:t>Increased range</a:t>
            </a:r>
            <a:endParaRPr sz="1200">
              <a:solidFill>
                <a:srgbClr val="313131"/>
              </a:solidFill>
              <a:highlight>
                <a:srgbClr val="FFFFFF"/>
              </a:highlight>
              <a:latin typeface="Roboto"/>
              <a:ea typeface="Roboto"/>
              <a:cs typeface="Roboto"/>
              <a:sym typeface="Roboto"/>
            </a:endParaRPr>
          </a:p>
          <a:p>
            <a:pPr indent="-304800" lvl="0" marL="838200" rtl="0" algn="l">
              <a:spcBef>
                <a:spcPts val="0"/>
              </a:spcBef>
              <a:spcAft>
                <a:spcPts val="0"/>
              </a:spcAft>
              <a:buClr>
                <a:srgbClr val="313131"/>
              </a:buClr>
              <a:buSzPts val="1200"/>
              <a:buFont typeface="Roboto"/>
              <a:buChar char="●"/>
            </a:pPr>
            <a:r>
              <a:rPr lang="en" sz="1200">
                <a:solidFill>
                  <a:srgbClr val="313131"/>
                </a:solidFill>
                <a:highlight>
                  <a:srgbClr val="FFFFFF"/>
                </a:highlight>
                <a:latin typeface="Roboto"/>
                <a:ea typeface="Roboto"/>
                <a:cs typeface="Roboto"/>
                <a:sym typeface="Roboto"/>
              </a:rPr>
              <a:t>Reduced power requirements</a:t>
            </a:r>
            <a:endParaRPr sz="1200">
              <a:solidFill>
                <a:srgbClr val="313131"/>
              </a:solidFill>
              <a:highlight>
                <a:srgbClr val="FFFFFF"/>
              </a:highlight>
              <a:latin typeface="Roboto"/>
              <a:ea typeface="Roboto"/>
              <a:cs typeface="Roboto"/>
              <a:sym typeface="Roboto"/>
            </a:endParaRPr>
          </a:p>
          <a:p>
            <a:pPr indent="0" lvl="0" marL="0" rtl="0" algn="l">
              <a:spcBef>
                <a:spcPts val="2300"/>
              </a:spcBef>
              <a:spcAft>
                <a:spcPts val="1200"/>
              </a:spcAft>
              <a:buNone/>
            </a:pPr>
            <a:r>
              <a:t/>
            </a:r>
            <a:endParaRPr sz="1200">
              <a:solidFill>
                <a:srgbClr val="313131"/>
              </a:solidFill>
              <a:highlight>
                <a:srgbClr val="FFFFFF"/>
              </a:highlight>
              <a:latin typeface="Roboto"/>
              <a:ea typeface="Roboto"/>
              <a:cs typeface="Roboto"/>
              <a:sym typeface="Roboto"/>
            </a:endParaRPr>
          </a:p>
        </p:txBody>
      </p:sp>
      <p:pic>
        <p:nvPicPr>
          <p:cNvPr id="61" name="Google Shape;61;p14"/>
          <p:cNvPicPr preferRelativeResize="0"/>
          <p:nvPr/>
        </p:nvPicPr>
        <p:blipFill rotWithShape="1">
          <a:blip r:embed="rId3">
            <a:alphaModFix/>
          </a:blip>
          <a:srcRect b="-3130" l="0" r="0" t="3130"/>
          <a:stretch/>
        </p:blipFill>
        <p:spPr>
          <a:xfrm>
            <a:off x="5462600" y="2454425"/>
            <a:ext cx="3534174" cy="2636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800"/>
              </a:spcBef>
              <a:spcAft>
                <a:spcPts val="400"/>
              </a:spcAft>
              <a:buClr>
                <a:schemeClr val="dk1"/>
              </a:buClr>
              <a:buSzPts val="1100"/>
              <a:buFont typeface="Arial"/>
              <a:buNone/>
            </a:pPr>
            <a:r>
              <a:rPr b="1" lang="en" sz="1700"/>
              <a:t>Beam Management in 5G NR (High Level)</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b="1" lang="en" sz="1100">
                <a:solidFill>
                  <a:schemeClr val="dk1"/>
                </a:solidFill>
              </a:rPr>
              <a:t>Initial access</a:t>
            </a:r>
            <a:r>
              <a:rPr lang="en" sz="1100">
                <a:solidFill>
                  <a:schemeClr val="dk1"/>
                </a:solidFill>
              </a:rPr>
              <a:t>: SSB/Beam sweeping, UE measures RSRP/RSRQ/SINR → selects best SSB beam</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CSI acquisition</a:t>
            </a:r>
            <a:r>
              <a:rPr lang="en" sz="1100">
                <a:solidFill>
                  <a:schemeClr val="dk1"/>
                </a:solidFill>
              </a:rPr>
              <a:t>: CSI‑RS (beamformed or non‑precoded), PMI/RI/CQI feedback</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Tracking &amp; recovery</a:t>
            </a:r>
            <a:r>
              <a:rPr lang="en" sz="1100">
                <a:solidFill>
                  <a:schemeClr val="dk1"/>
                </a:solidFill>
              </a:rPr>
              <a:t>: periodic/aperiodic CSI‑RS, beam failure detection (BFD), recovery (BFR)</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Codebooks</a:t>
            </a:r>
            <a:r>
              <a:rPr lang="en" sz="1100">
                <a:solidFill>
                  <a:schemeClr val="dk1"/>
                </a:solidFill>
              </a:rPr>
              <a:t>: Type‑I/II, DFT‑based beams, hierarchical sweeps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Overheads</a:t>
            </a:r>
            <a:r>
              <a:rPr lang="en" sz="1100">
                <a:solidFill>
                  <a:schemeClr val="dk1"/>
                </a:solidFill>
              </a:rPr>
              <a:t>: sweeping latency, feedback bits, pilot density vs. mobility</a:t>
            </a:r>
            <a:endParaRPr sz="1100">
              <a:solidFill>
                <a:schemeClr val="dk1"/>
              </a:solidFill>
            </a:endParaRPr>
          </a:p>
          <a:p>
            <a:pPr indent="0" lvl="0" marL="0" rtl="0" algn="l">
              <a:spcBef>
                <a:spcPts val="1200"/>
              </a:spcBef>
              <a:spcAft>
                <a:spcPts val="1200"/>
              </a:spcAft>
              <a:buNone/>
            </a:pPr>
            <a:r>
              <a:t/>
            </a:r>
            <a:endParaRPr/>
          </a:p>
        </p:txBody>
      </p:sp>
      <p:pic>
        <p:nvPicPr>
          <p:cNvPr id="68" name="Google Shape;68;p15"/>
          <p:cNvPicPr preferRelativeResize="0"/>
          <p:nvPr/>
        </p:nvPicPr>
        <p:blipFill>
          <a:blip r:embed="rId3">
            <a:alphaModFix/>
          </a:blip>
          <a:stretch>
            <a:fillRect/>
          </a:stretch>
        </p:blipFill>
        <p:spPr>
          <a:xfrm>
            <a:off x="474250" y="2690225"/>
            <a:ext cx="8096250" cy="1924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ML in beamforming</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solidFill>
                  <a:schemeClr val="dk1"/>
                </a:solidFill>
              </a:rPr>
              <a:t>Learning from data</a:t>
            </a:r>
            <a:r>
              <a:rPr lang="en" sz="1100">
                <a:solidFill>
                  <a:schemeClr val="dk1"/>
                </a:solidFill>
              </a:rPr>
              <a:t> can reduce sweeps/feedback and adapt to mobility/blockage</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Framings</a:t>
            </a:r>
            <a:r>
              <a:rPr lang="en" sz="1100">
                <a:solidFill>
                  <a:schemeClr val="dk1"/>
                </a:solidFill>
              </a:rPr>
              <a:t>:</a:t>
            </a:r>
            <a:endParaRPr sz="1100">
              <a:solidFill>
                <a:schemeClr val="dk1"/>
              </a:solidFill>
            </a:endParaRPr>
          </a:p>
          <a:p>
            <a:pPr indent="-298450" lvl="0" marL="457200" rtl="0" algn="l">
              <a:spcBef>
                <a:spcPts val="1200"/>
              </a:spcBef>
              <a:spcAft>
                <a:spcPts val="0"/>
              </a:spcAft>
              <a:buClr>
                <a:schemeClr val="dk1"/>
              </a:buClr>
              <a:buSzPts val="1100"/>
              <a:buChar char="●"/>
            </a:pPr>
            <a:r>
              <a:rPr i="1" lang="en" sz="1100">
                <a:solidFill>
                  <a:schemeClr val="dk1"/>
                </a:solidFill>
              </a:rPr>
              <a:t>Classification</a:t>
            </a:r>
            <a:r>
              <a:rPr lang="en" sz="1100">
                <a:solidFill>
                  <a:schemeClr val="dk1"/>
                </a:solidFill>
              </a:rPr>
              <a:t>: map context → beam index (top‑k beam candidates)</a:t>
            </a:r>
            <a:endParaRPr sz="1100">
              <a:solidFill>
                <a:schemeClr val="dk1"/>
              </a:solidFill>
            </a:endParaRPr>
          </a:p>
          <a:p>
            <a:pPr indent="-298450" lvl="0" marL="457200" rtl="0" algn="l">
              <a:spcBef>
                <a:spcPts val="0"/>
              </a:spcBef>
              <a:spcAft>
                <a:spcPts val="0"/>
              </a:spcAft>
              <a:buClr>
                <a:schemeClr val="dk1"/>
              </a:buClr>
              <a:buSzPts val="1100"/>
              <a:buChar char="●"/>
            </a:pPr>
            <a:r>
              <a:rPr i="1" lang="en" sz="1100">
                <a:solidFill>
                  <a:schemeClr val="dk1"/>
                </a:solidFill>
              </a:rPr>
              <a:t>Regression</a:t>
            </a:r>
            <a:r>
              <a:rPr lang="en" sz="1100">
                <a:solidFill>
                  <a:schemeClr val="dk1"/>
                </a:solidFill>
              </a:rPr>
              <a:t>: predict AoA/AoD, path gains, SNR, or PMI components</a:t>
            </a:r>
            <a:endParaRPr sz="1100">
              <a:solidFill>
                <a:schemeClr val="dk1"/>
              </a:solidFill>
            </a:endParaRPr>
          </a:p>
          <a:p>
            <a:pPr indent="-298450" lvl="0" marL="457200" rtl="0" algn="l">
              <a:spcBef>
                <a:spcPts val="0"/>
              </a:spcBef>
              <a:spcAft>
                <a:spcPts val="0"/>
              </a:spcAft>
              <a:buClr>
                <a:schemeClr val="dk1"/>
              </a:buClr>
              <a:buSzPts val="1100"/>
              <a:buChar char="●"/>
            </a:pPr>
            <a:r>
              <a:rPr i="1" lang="en" sz="1100">
                <a:solidFill>
                  <a:schemeClr val="dk1"/>
                </a:solidFill>
              </a:rPr>
              <a:t>Sequence forecasting</a:t>
            </a:r>
            <a:r>
              <a:rPr lang="en" sz="1100">
                <a:solidFill>
                  <a:schemeClr val="dk1"/>
                </a:solidFill>
              </a:rPr>
              <a:t>: next‑beam prediction across time (tracking)</a:t>
            </a:r>
            <a:endParaRPr sz="1100">
              <a:solidFill>
                <a:schemeClr val="dk1"/>
              </a:solidFill>
            </a:endParaRPr>
          </a:p>
          <a:p>
            <a:pPr indent="-298450" lvl="0" marL="457200" rtl="0" algn="l">
              <a:spcBef>
                <a:spcPts val="0"/>
              </a:spcBef>
              <a:spcAft>
                <a:spcPts val="0"/>
              </a:spcAft>
              <a:buClr>
                <a:schemeClr val="dk1"/>
              </a:buClr>
              <a:buSzPts val="1100"/>
              <a:buChar char="●"/>
            </a:pPr>
            <a:r>
              <a:rPr i="1" lang="en" sz="1100">
                <a:solidFill>
                  <a:schemeClr val="dk1"/>
                </a:solidFill>
              </a:rPr>
              <a:t>Reinforcement learning</a:t>
            </a:r>
            <a:r>
              <a:rPr lang="en" sz="1100">
                <a:solidFill>
                  <a:schemeClr val="dk1"/>
                </a:solidFill>
              </a:rPr>
              <a:t>: beam selection with reward = throughput/SINR/BLER</a:t>
            </a:r>
            <a:endParaRPr sz="1100">
              <a:solidFill>
                <a:schemeClr val="dk1"/>
              </a:solidFill>
            </a:endParaRPr>
          </a:p>
          <a:p>
            <a:pPr indent="-298450" lvl="0" marL="457200" rtl="0" algn="l">
              <a:spcBef>
                <a:spcPts val="0"/>
              </a:spcBef>
              <a:spcAft>
                <a:spcPts val="0"/>
              </a:spcAft>
              <a:buClr>
                <a:schemeClr val="dk1"/>
              </a:buClr>
              <a:buSzPts val="1100"/>
              <a:buChar char="●"/>
            </a:pPr>
            <a:r>
              <a:rPr i="1" lang="en" sz="1100">
                <a:solidFill>
                  <a:schemeClr val="dk1"/>
                </a:solidFill>
              </a:rPr>
              <a:t>Representation learning</a:t>
            </a:r>
            <a:r>
              <a:rPr lang="en" sz="1100">
                <a:solidFill>
                  <a:schemeClr val="dk1"/>
                </a:solidFill>
              </a:rPr>
              <a:t>: CSI compression/denoising, environment embeddings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Where ML plugs in</a:t>
            </a:r>
            <a:r>
              <a:rPr lang="en" sz="1100">
                <a:solidFill>
                  <a:schemeClr val="dk1"/>
                </a:solidFill>
              </a:rPr>
              <a:t>: initial access, beam refinement, tracking, handover, multi‑cell coordination</a:t>
            </a:r>
            <a:endParaRPr sz="11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 &amp; Parameters can be used</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1200"/>
              </a:spcBef>
              <a:spcAft>
                <a:spcPts val="0"/>
              </a:spcAft>
              <a:buClr>
                <a:schemeClr val="dk1"/>
              </a:buClr>
              <a:buSzPct val="100000"/>
              <a:buFont typeface="Arial"/>
              <a:buNone/>
            </a:pPr>
            <a:r>
              <a:rPr b="1" lang="en" sz="1100">
                <a:solidFill>
                  <a:schemeClr val="dk1"/>
                </a:solidFill>
              </a:rPr>
              <a:t>Radio/PHY features</a:t>
            </a:r>
            <a:endParaRPr b="1" sz="1100">
              <a:solidFill>
                <a:schemeClr val="dk1"/>
              </a:solidFill>
            </a:endParaRPr>
          </a:p>
          <a:p>
            <a:pPr indent="-293211" lvl="0" marL="457200" rtl="0" algn="l">
              <a:spcBef>
                <a:spcPts val="1200"/>
              </a:spcBef>
              <a:spcAft>
                <a:spcPts val="0"/>
              </a:spcAft>
              <a:buClr>
                <a:schemeClr val="dk1"/>
              </a:buClr>
              <a:buSzPct val="100000"/>
              <a:buChar char="●"/>
            </a:pPr>
            <a:r>
              <a:rPr lang="en" sz="1100">
                <a:solidFill>
                  <a:schemeClr val="dk1"/>
                </a:solidFill>
              </a:rPr>
              <a:t>Per‑beam: RSRP/RSRQ/SINR, SS‑RLM, beam index, beam width, boresight angles</a:t>
            </a:r>
            <a:endParaRPr sz="1100">
              <a:solidFill>
                <a:schemeClr val="dk1"/>
              </a:solidFill>
            </a:endParaRPr>
          </a:p>
          <a:p>
            <a:pPr indent="-293211" lvl="0" marL="457200" rtl="0" algn="l">
              <a:spcBef>
                <a:spcPts val="0"/>
              </a:spcBef>
              <a:spcAft>
                <a:spcPts val="0"/>
              </a:spcAft>
              <a:buClr>
                <a:schemeClr val="dk1"/>
              </a:buClr>
              <a:buSzPct val="100000"/>
              <a:buChar char="●"/>
            </a:pPr>
            <a:r>
              <a:rPr lang="en" sz="1100">
                <a:solidFill>
                  <a:schemeClr val="dk1"/>
                </a:solidFill>
              </a:rPr>
              <a:t>CSI‑derived: dominant singular values, angle‑delay power (sparse), Doppler spread</a:t>
            </a:r>
            <a:endParaRPr sz="1100">
              <a:solidFill>
                <a:schemeClr val="dk1"/>
              </a:solidFill>
            </a:endParaRPr>
          </a:p>
          <a:p>
            <a:pPr indent="-293211" lvl="0" marL="457200" rtl="0" algn="l">
              <a:spcBef>
                <a:spcPts val="0"/>
              </a:spcBef>
              <a:spcAft>
                <a:spcPts val="0"/>
              </a:spcAft>
              <a:buClr>
                <a:schemeClr val="dk1"/>
              </a:buClr>
              <a:buSzPct val="100000"/>
              <a:buChar char="●"/>
            </a:pPr>
            <a:r>
              <a:rPr lang="en" sz="1100">
                <a:solidFill>
                  <a:schemeClr val="dk1"/>
                </a:solidFill>
              </a:rPr>
              <a:t>Channel quality: CQI, BLER, HARQ NACK ratio</a:t>
            </a:r>
            <a:endParaRPr sz="1100">
              <a:solidFill>
                <a:schemeClr val="dk1"/>
              </a:solidFill>
            </a:endParaRPr>
          </a:p>
          <a:p>
            <a:pPr indent="-293211" lvl="0" marL="457200" rtl="0" algn="l">
              <a:spcBef>
                <a:spcPts val="0"/>
              </a:spcBef>
              <a:spcAft>
                <a:spcPts val="0"/>
              </a:spcAft>
              <a:buClr>
                <a:schemeClr val="dk1"/>
              </a:buClr>
              <a:buSzPct val="100000"/>
              <a:buChar char="●"/>
            </a:pPr>
            <a:r>
              <a:rPr lang="en" sz="1100">
                <a:solidFill>
                  <a:schemeClr val="dk1"/>
                </a:solidFill>
              </a:rPr>
              <a:t>Mobility: speed estimate, Doppler, timing advance deltas</a:t>
            </a:r>
            <a:endParaRPr sz="1100">
              <a:solidFill>
                <a:schemeClr val="dk1"/>
              </a:solidFill>
            </a:endParaRPr>
          </a:p>
          <a:p>
            <a:pPr indent="-293211" lvl="0" marL="457200" rtl="0" algn="l">
              <a:spcBef>
                <a:spcPts val="0"/>
              </a:spcBef>
              <a:spcAft>
                <a:spcPts val="0"/>
              </a:spcAft>
              <a:buClr>
                <a:schemeClr val="dk1"/>
              </a:buClr>
              <a:buSzPct val="100000"/>
              <a:buChar char="●"/>
            </a:pPr>
            <a:r>
              <a:rPr lang="en" sz="1100">
                <a:solidFill>
                  <a:schemeClr val="dk1"/>
                </a:solidFill>
              </a:rPr>
              <a:t>RF: Tx power, antenna tilt, polarization, carrier frequency, bandwidth, SCS</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Context features</a:t>
            </a:r>
            <a:endParaRPr b="1" sz="1100">
              <a:solidFill>
                <a:schemeClr val="dk1"/>
              </a:solidFill>
            </a:endParaRPr>
          </a:p>
          <a:p>
            <a:pPr indent="-293211" lvl="0" marL="457200" rtl="0" algn="l">
              <a:spcBef>
                <a:spcPts val="1200"/>
              </a:spcBef>
              <a:spcAft>
                <a:spcPts val="0"/>
              </a:spcAft>
              <a:buClr>
                <a:schemeClr val="dk1"/>
              </a:buClr>
              <a:buSzPct val="100000"/>
              <a:buChar char="●"/>
            </a:pPr>
            <a:r>
              <a:rPr lang="en" sz="1100">
                <a:solidFill>
                  <a:schemeClr val="dk1"/>
                </a:solidFill>
              </a:rPr>
              <a:t>UE pose: (x,y,z), heading, IMU, GNSS accuracy flags</a:t>
            </a:r>
            <a:endParaRPr sz="1100">
              <a:solidFill>
                <a:schemeClr val="dk1"/>
              </a:solidFill>
            </a:endParaRPr>
          </a:p>
          <a:p>
            <a:pPr indent="-293211" lvl="0" marL="457200" rtl="0" algn="l">
              <a:spcBef>
                <a:spcPts val="0"/>
              </a:spcBef>
              <a:spcAft>
                <a:spcPts val="0"/>
              </a:spcAft>
              <a:buClr>
                <a:schemeClr val="dk1"/>
              </a:buClr>
              <a:buSzPct val="100000"/>
              <a:buChar char="●"/>
            </a:pPr>
            <a:r>
              <a:rPr lang="en" sz="1100">
                <a:solidFill>
                  <a:schemeClr val="dk1"/>
                </a:solidFill>
              </a:rPr>
              <a:t>Topology: serving/neighbor cell IDs, relative azimuths, PCI, beam codebooks</a:t>
            </a:r>
            <a:endParaRPr sz="1100">
              <a:solidFill>
                <a:schemeClr val="dk1"/>
              </a:solidFill>
            </a:endParaRPr>
          </a:p>
          <a:p>
            <a:pPr indent="-293211" lvl="0" marL="457200" rtl="0" algn="l">
              <a:spcBef>
                <a:spcPts val="0"/>
              </a:spcBef>
              <a:spcAft>
                <a:spcPts val="0"/>
              </a:spcAft>
              <a:buClr>
                <a:schemeClr val="dk1"/>
              </a:buClr>
              <a:buSzPct val="100000"/>
              <a:buChar char="●"/>
            </a:pPr>
            <a:r>
              <a:rPr lang="en" sz="1100">
                <a:solidFill>
                  <a:schemeClr val="dk1"/>
                </a:solidFill>
              </a:rPr>
              <a:t>Environment: LOS/NLOS flag (if available), blockage sensors, map tiles (coarse)</a:t>
            </a:r>
            <a:endParaRPr sz="1100">
              <a:solidFill>
                <a:schemeClr val="dk1"/>
              </a:solidFill>
            </a:endParaRPr>
          </a:p>
          <a:p>
            <a:pPr indent="-293211" lvl="0" marL="457200" rtl="0" algn="l">
              <a:spcBef>
                <a:spcPts val="0"/>
              </a:spcBef>
              <a:spcAft>
                <a:spcPts val="0"/>
              </a:spcAft>
              <a:buClr>
                <a:schemeClr val="dk1"/>
              </a:buClr>
              <a:buSzPct val="100000"/>
              <a:buChar char="●"/>
            </a:pPr>
            <a:r>
              <a:rPr lang="en" sz="1100">
                <a:solidFill>
                  <a:schemeClr val="dk1"/>
                </a:solidFill>
              </a:rPr>
              <a:t>History: last </a:t>
            </a:r>
            <a:r>
              <a:rPr i="1" lang="en" sz="1100">
                <a:solidFill>
                  <a:schemeClr val="dk1"/>
                </a:solidFill>
              </a:rPr>
              <a:t>k</a:t>
            </a:r>
            <a:r>
              <a:rPr lang="en" sz="1100">
                <a:solidFill>
                  <a:schemeClr val="dk1"/>
                </a:solidFill>
              </a:rPr>
              <a:t> beams, dwell time, switches, measured SNR trend</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Labels/targets</a:t>
            </a:r>
            <a:endParaRPr b="1" sz="1100">
              <a:solidFill>
                <a:schemeClr val="dk1"/>
              </a:solidFill>
            </a:endParaRPr>
          </a:p>
          <a:p>
            <a:pPr indent="-293211" lvl="0" marL="457200" rtl="0" algn="l">
              <a:spcBef>
                <a:spcPts val="1200"/>
              </a:spcBef>
              <a:spcAft>
                <a:spcPts val="0"/>
              </a:spcAft>
              <a:buClr>
                <a:schemeClr val="dk1"/>
              </a:buClr>
              <a:buSzPct val="100000"/>
              <a:buChar char="●"/>
            </a:pPr>
            <a:r>
              <a:rPr lang="en" sz="1100">
                <a:solidFill>
                  <a:schemeClr val="dk1"/>
                </a:solidFill>
              </a:rPr>
              <a:t>Best beam index/top‑k; expected SINR/throughput; PMI/RI/CQI; handover success</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164550"/>
            <a:ext cx="8520600" cy="806400"/>
          </a:xfrm>
          <a:prstGeom prst="rect">
            <a:avLst/>
          </a:prstGeom>
        </p:spPr>
        <p:txBody>
          <a:bodyPr anchorCtr="0" anchor="t" bIns="91425" lIns="91425" spcFirstLastPara="1" rIns="91425" wrap="square" tIns="91425">
            <a:normAutofit fontScale="90000"/>
          </a:bodyPr>
          <a:lstStyle/>
          <a:p>
            <a:pPr indent="0" lvl="0" marL="0" rtl="0" algn="l">
              <a:lnSpc>
                <a:spcPct val="120000"/>
              </a:lnSpc>
              <a:spcBef>
                <a:spcPts val="0"/>
              </a:spcBef>
              <a:spcAft>
                <a:spcPts val="0"/>
              </a:spcAft>
              <a:buClr>
                <a:schemeClr val="dk1"/>
              </a:buClr>
              <a:buSzPct val="47826"/>
              <a:buFont typeface="Arial"/>
              <a:buNone/>
            </a:pPr>
            <a:r>
              <a:rPr lang="en" sz="2300">
                <a:solidFill>
                  <a:srgbClr val="111111"/>
                </a:solidFill>
                <a:highlight>
                  <a:srgbClr val="FFFFFF"/>
                </a:highlight>
                <a:latin typeface="Roboto"/>
                <a:ea typeface="Roboto"/>
                <a:cs typeface="Roboto"/>
                <a:sym typeface="Roboto"/>
              </a:rPr>
              <a:t>Artificial-Intelligence-Enhanced Beamforming for Power-Efficient User Targeting in 5G Networks using Reinforcement Learning</a:t>
            </a:r>
            <a:endParaRPr sz="2300">
              <a:solidFill>
                <a:srgbClr val="111111"/>
              </a:solidFill>
              <a:highlight>
                <a:srgbClr val="FFFFFF"/>
              </a:highlight>
              <a:latin typeface="Roboto"/>
              <a:ea typeface="Roboto"/>
              <a:cs typeface="Roboto"/>
              <a:sym typeface="Roboto"/>
            </a:endParaRPr>
          </a:p>
          <a:p>
            <a:pPr indent="0" lvl="0" marL="0" rtl="0" algn="l">
              <a:spcBef>
                <a:spcPts val="0"/>
              </a:spcBef>
              <a:spcAft>
                <a:spcPts val="0"/>
              </a:spcAft>
              <a:buNone/>
            </a:pPr>
            <a:r>
              <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None/>
            </a:pPr>
            <a:r>
              <a:rPr lang="en" sz="2550"/>
              <a:t>Recent work that I am looking into.</a:t>
            </a:r>
            <a:endParaRPr sz="2550"/>
          </a:p>
          <a:p>
            <a:pPr indent="0" lvl="0" marL="0" rtl="0" algn="l">
              <a:spcBef>
                <a:spcPts val="1800"/>
              </a:spcBef>
              <a:spcAft>
                <a:spcPts val="0"/>
              </a:spcAft>
              <a:buClr>
                <a:schemeClr val="dk1"/>
              </a:buClr>
              <a:buSzPct val="64705"/>
              <a:buFont typeface="Arial"/>
              <a:buNone/>
            </a:pPr>
            <a:r>
              <a:rPr lang="en" sz="1700">
                <a:solidFill>
                  <a:schemeClr val="dk1"/>
                </a:solidFill>
              </a:rPr>
              <a:t> </a:t>
            </a:r>
            <a:r>
              <a:rPr lang="en" sz="1900">
                <a:solidFill>
                  <a:schemeClr val="dk1"/>
                </a:solidFill>
              </a:rPr>
              <a:t>Key Idea</a:t>
            </a:r>
            <a:endParaRPr sz="1900">
              <a:solidFill>
                <a:schemeClr val="dk1"/>
              </a:solidFill>
            </a:endParaRPr>
          </a:p>
          <a:p>
            <a:pPr indent="-276860" lvl="0" marL="457200" rtl="0" algn="l">
              <a:spcBef>
                <a:spcPts val="1200"/>
              </a:spcBef>
              <a:spcAft>
                <a:spcPts val="0"/>
              </a:spcAft>
              <a:buClr>
                <a:schemeClr val="dk1"/>
              </a:buClr>
              <a:buSzPct val="100000"/>
              <a:buChar char="●"/>
            </a:pPr>
            <a:r>
              <a:rPr lang="en" sz="1900">
                <a:solidFill>
                  <a:schemeClr val="dk1"/>
                </a:solidFill>
              </a:rPr>
              <a:t>Use </a:t>
            </a:r>
            <a:r>
              <a:rPr b="1" lang="en" sz="1900">
                <a:solidFill>
                  <a:schemeClr val="dk1"/>
                </a:solidFill>
              </a:rPr>
              <a:t>Reinforcement Learning (RL)</a:t>
            </a:r>
            <a:r>
              <a:rPr lang="en" sz="1900">
                <a:solidFill>
                  <a:schemeClr val="dk1"/>
                </a:solidFill>
              </a:rPr>
              <a:t> + </a:t>
            </a:r>
            <a:r>
              <a:rPr b="1" lang="en" sz="1900">
                <a:solidFill>
                  <a:schemeClr val="dk1"/>
                </a:solidFill>
              </a:rPr>
              <a:t>adaptive signal processing</a:t>
            </a:r>
            <a:r>
              <a:rPr lang="en" sz="1900">
                <a:solidFill>
                  <a:schemeClr val="dk1"/>
                </a:solidFill>
              </a:rPr>
              <a:t> for beamforming.</a:t>
            </a:r>
            <a:br>
              <a:rPr lang="en" sz="1900">
                <a:solidFill>
                  <a:schemeClr val="dk1"/>
                </a:solidFill>
              </a:rPr>
            </a:br>
            <a:endParaRPr sz="1900">
              <a:solidFill>
                <a:schemeClr val="dk1"/>
              </a:solidFill>
            </a:endParaRPr>
          </a:p>
          <a:p>
            <a:pPr indent="-276860" lvl="0" marL="457200" rtl="0" algn="l">
              <a:spcBef>
                <a:spcPts val="0"/>
              </a:spcBef>
              <a:spcAft>
                <a:spcPts val="0"/>
              </a:spcAft>
              <a:buClr>
                <a:schemeClr val="dk1"/>
              </a:buClr>
              <a:buSzPct val="100000"/>
              <a:buChar char="●"/>
            </a:pPr>
            <a:r>
              <a:rPr lang="en" sz="1900">
                <a:solidFill>
                  <a:schemeClr val="dk1"/>
                </a:solidFill>
              </a:rPr>
              <a:t>System identifies </a:t>
            </a:r>
            <a:r>
              <a:rPr b="1" lang="en" sz="1900">
                <a:solidFill>
                  <a:schemeClr val="dk1"/>
                </a:solidFill>
              </a:rPr>
              <a:t>user with lowest power signature</a:t>
            </a:r>
            <a:r>
              <a:rPr lang="en" sz="1900">
                <a:solidFill>
                  <a:schemeClr val="dk1"/>
                </a:solidFill>
              </a:rPr>
              <a:t> and directs beam there, minimizing network energy usage.</a:t>
            </a:r>
            <a:br>
              <a:rPr lang="en" sz="1900">
                <a:solidFill>
                  <a:schemeClr val="dk1"/>
                </a:solidFill>
              </a:rPr>
            </a:br>
            <a:endParaRPr sz="1900">
              <a:solidFill>
                <a:schemeClr val="dk1"/>
              </a:solidFill>
            </a:endParaRPr>
          </a:p>
          <a:p>
            <a:pPr indent="-276860" lvl="0" marL="457200" rtl="0" algn="l">
              <a:spcBef>
                <a:spcPts val="0"/>
              </a:spcBef>
              <a:spcAft>
                <a:spcPts val="0"/>
              </a:spcAft>
              <a:buClr>
                <a:schemeClr val="dk1"/>
              </a:buClr>
              <a:buSzPct val="100000"/>
              <a:buChar char="●"/>
            </a:pPr>
            <a:r>
              <a:rPr lang="en" sz="1900">
                <a:solidFill>
                  <a:schemeClr val="dk1"/>
                </a:solidFill>
              </a:rPr>
              <a:t>Employs </a:t>
            </a:r>
            <a:r>
              <a:rPr b="1" lang="en" sz="1900">
                <a:solidFill>
                  <a:schemeClr val="dk1"/>
                </a:solidFill>
              </a:rPr>
              <a:t>MUSIC algorithm</a:t>
            </a:r>
            <a:r>
              <a:rPr lang="en" sz="1900">
                <a:solidFill>
                  <a:schemeClr val="dk1"/>
                </a:solidFill>
              </a:rPr>
              <a:t> for Direction of Arrival (DOA) estimation, then RL adjusts beam weights iteratively</a:t>
            </a:r>
            <a:endParaRPr sz="1900">
              <a:solidFill>
                <a:schemeClr val="dk1"/>
              </a:solidFill>
            </a:endParaRPr>
          </a:p>
          <a:p>
            <a:pPr indent="0" lvl="0" marL="0" rtl="0" algn="l">
              <a:spcBef>
                <a:spcPts val="1800"/>
              </a:spcBef>
              <a:spcAft>
                <a:spcPts val="0"/>
              </a:spcAft>
              <a:buNone/>
            </a:pPr>
            <a:r>
              <a:rPr lang="en" sz="1900">
                <a:solidFill>
                  <a:schemeClr val="dk1"/>
                </a:solidFill>
              </a:rPr>
              <a:t> System Assumptions &amp; Setup</a:t>
            </a:r>
            <a:endParaRPr sz="1900">
              <a:solidFill>
                <a:schemeClr val="dk1"/>
              </a:solidFill>
            </a:endParaRPr>
          </a:p>
          <a:p>
            <a:pPr indent="-276860" lvl="0" marL="457200" rtl="0" algn="l">
              <a:spcBef>
                <a:spcPts val="1200"/>
              </a:spcBef>
              <a:spcAft>
                <a:spcPts val="0"/>
              </a:spcAft>
              <a:buClr>
                <a:schemeClr val="dk1"/>
              </a:buClr>
              <a:buSzPct val="100000"/>
              <a:buChar char="●"/>
            </a:pPr>
            <a:r>
              <a:rPr b="1" lang="en" sz="1900">
                <a:solidFill>
                  <a:schemeClr val="dk1"/>
                </a:solidFill>
              </a:rPr>
              <a:t>Carrier frequency:</a:t>
            </a:r>
            <a:r>
              <a:rPr lang="en" sz="1900">
                <a:solidFill>
                  <a:schemeClr val="dk1"/>
                </a:solidFill>
              </a:rPr>
              <a:t> 28 GHz (mmWave band).</a:t>
            </a:r>
            <a:br>
              <a:rPr lang="en" sz="1900">
                <a:solidFill>
                  <a:schemeClr val="dk1"/>
                </a:solidFill>
              </a:rPr>
            </a:br>
            <a:endParaRPr sz="1900">
              <a:solidFill>
                <a:schemeClr val="dk1"/>
              </a:solidFill>
            </a:endParaRPr>
          </a:p>
          <a:p>
            <a:pPr indent="-276860" lvl="0" marL="457200" rtl="0" algn="l">
              <a:spcBef>
                <a:spcPts val="0"/>
              </a:spcBef>
              <a:spcAft>
                <a:spcPts val="0"/>
              </a:spcAft>
              <a:buClr>
                <a:schemeClr val="dk1"/>
              </a:buClr>
              <a:buSzPct val="100000"/>
              <a:buChar char="●"/>
            </a:pPr>
            <a:r>
              <a:rPr b="1" lang="en" sz="1900">
                <a:solidFill>
                  <a:schemeClr val="dk1"/>
                </a:solidFill>
              </a:rPr>
              <a:t>Antenna:</a:t>
            </a:r>
            <a:r>
              <a:rPr lang="en" sz="1900">
                <a:solidFill>
                  <a:schemeClr val="dk1"/>
                </a:solidFill>
              </a:rPr>
              <a:t> Uniform Linear Array (10 elements, half-wavelength spacing).</a:t>
            </a:r>
            <a:br>
              <a:rPr lang="en" sz="1900">
                <a:solidFill>
                  <a:schemeClr val="dk1"/>
                </a:solidFill>
              </a:rPr>
            </a:br>
            <a:endParaRPr sz="1900">
              <a:solidFill>
                <a:schemeClr val="dk1"/>
              </a:solidFill>
            </a:endParaRPr>
          </a:p>
          <a:p>
            <a:pPr indent="-276860" lvl="0" marL="457200" rtl="0" algn="l">
              <a:spcBef>
                <a:spcPts val="0"/>
              </a:spcBef>
              <a:spcAft>
                <a:spcPts val="0"/>
              </a:spcAft>
              <a:buClr>
                <a:schemeClr val="dk1"/>
              </a:buClr>
              <a:buSzPct val="100000"/>
              <a:buChar char="●"/>
            </a:pPr>
            <a:r>
              <a:rPr b="1" lang="en" sz="1900">
                <a:solidFill>
                  <a:schemeClr val="dk1"/>
                </a:solidFill>
              </a:rPr>
              <a:t>Modulation:</a:t>
            </a:r>
            <a:r>
              <a:rPr lang="en" sz="1900">
                <a:solidFill>
                  <a:schemeClr val="dk1"/>
                </a:solidFill>
              </a:rPr>
              <a:t> 16-QAM.</a:t>
            </a:r>
            <a:br>
              <a:rPr lang="en" sz="1900">
                <a:solidFill>
                  <a:schemeClr val="dk1"/>
                </a:solidFill>
              </a:rPr>
            </a:br>
            <a:endParaRPr sz="1900">
              <a:solidFill>
                <a:schemeClr val="dk1"/>
              </a:solidFill>
            </a:endParaRPr>
          </a:p>
          <a:p>
            <a:pPr indent="-276860" lvl="0" marL="457200" rtl="0" algn="l">
              <a:spcBef>
                <a:spcPts val="0"/>
              </a:spcBef>
              <a:spcAft>
                <a:spcPts val="0"/>
              </a:spcAft>
              <a:buClr>
                <a:schemeClr val="dk1"/>
              </a:buClr>
              <a:buSzPct val="100000"/>
              <a:buChar char="●"/>
            </a:pPr>
            <a:r>
              <a:rPr b="1" lang="en" sz="1900">
                <a:solidFill>
                  <a:schemeClr val="dk1"/>
                </a:solidFill>
              </a:rPr>
              <a:t>Simulation tool:</a:t>
            </a:r>
            <a:r>
              <a:rPr lang="en" sz="1900">
                <a:solidFill>
                  <a:schemeClr val="dk1"/>
                </a:solidFill>
              </a:rPr>
              <a:t> MATLAB with Phased Array System Toolbox.</a:t>
            </a:r>
            <a:br>
              <a:rPr lang="en" sz="1900">
                <a:solidFill>
                  <a:schemeClr val="dk1"/>
                </a:solidFill>
              </a:rPr>
            </a:br>
            <a:endParaRPr sz="1900">
              <a:solidFill>
                <a:schemeClr val="dk1"/>
              </a:solidFill>
            </a:endParaRPr>
          </a:p>
          <a:p>
            <a:pPr indent="-276860" lvl="0" marL="457200" rtl="0" algn="l">
              <a:spcBef>
                <a:spcPts val="0"/>
              </a:spcBef>
              <a:spcAft>
                <a:spcPts val="0"/>
              </a:spcAft>
              <a:buClr>
                <a:schemeClr val="dk1"/>
              </a:buClr>
              <a:buSzPct val="100000"/>
              <a:buChar char="●"/>
            </a:pPr>
            <a:r>
              <a:rPr lang="en" sz="1900">
                <a:solidFill>
                  <a:schemeClr val="dk1"/>
                </a:solidFill>
              </a:rPr>
              <a:t>Two simulated users with random Angles of Arrival (−90° to +90°).</a:t>
            </a:r>
            <a:br>
              <a:rPr lang="en" sz="1900">
                <a:solidFill>
                  <a:schemeClr val="dk1"/>
                </a:solidFill>
              </a:rPr>
            </a:br>
            <a:endParaRPr sz="1900">
              <a:solidFill>
                <a:schemeClr val="dk1"/>
              </a:solidFill>
            </a:endParaRPr>
          </a:p>
          <a:p>
            <a:pPr indent="-276860" lvl="0" marL="457200" rtl="0" algn="l">
              <a:spcBef>
                <a:spcPts val="0"/>
              </a:spcBef>
              <a:spcAft>
                <a:spcPts val="0"/>
              </a:spcAft>
              <a:buClr>
                <a:schemeClr val="dk1"/>
              </a:buClr>
              <a:buSzPct val="100000"/>
              <a:buChar char="●"/>
            </a:pPr>
            <a:r>
              <a:rPr lang="en" sz="1900">
                <a:solidFill>
                  <a:schemeClr val="dk1"/>
                </a:solidFill>
              </a:rPr>
              <a:t>Noise injected to test robustness.</a:t>
            </a:r>
            <a:endParaRPr sz="19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1200"/>
              </a:spcBef>
              <a:spcAft>
                <a:spcPts val="1200"/>
              </a:spcAft>
              <a:buNone/>
            </a:pPr>
            <a:r>
              <a:t/>
            </a:r>
            <a:endParaRPr/>
          </a:p>
        </p:txBody>
      </p:sp>
      <p:pic>
        <p:nvPicPr>
          <p:cNvPr id="92" name="Google Shape;92;p19"/>
          <p:cNvPicPr preferRelativeResize="0"/>
          <p:nvPr/>
        </p:nvPicPr>
        <p:blipFill>
          <a:blip r:embed="rId3">
            <a:alphaModFix/>
          </a:blip>
          <a:stretch>
            <a:fillRect/>
          </a:stretch>
        </p:blipFill>
        <p:spPr>
          <a:xfrm>
            <a:off x="378607" y="0"/>
            <a:ext cx="2552587" cy="5143500"/>
          </a:xfrm>
          <a:prstGeom prst="rect">
            <a:avLst/>
          </a:prstGeom>
          <a:noFill/>
          <a:ln>
            <a:noFill/>
          </a:ln>
        </p:spPr>
      </p:pic>
      <p:sp>
        <p:nvSpPr>
          <p:cNvPr id="93" name="Google Shape;93;p19"/>
          <p:cNvSpPr txBox="1"/>
          <p:nvPr/>
        </p:nvSpPr>
        <p:spPr>
          <a:xfrm>
            <a:off x="3075325" y="266600"/>
            <a:ext cx="6002400" cy="480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Components:</a:t>
            </a:r>
            <a:endParaRPr sz="11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sz="1100">
                <a:solidFill>
                  <a:schemeClr val="dk1"/>
                </a:solidFill>
              </a:rPr>
              <a:t>ULA antenna array</a:t>
            </a:r>
            <a:r>
              <a:rPr lang="en" sz="1100">
                <a:solidFill>
                  <a:schemeClr val="dk1"/>
                </a:solidFill>
              </a:rPr>
              <a:t> – generates beams at 28 GHz.</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rPr>
              <a:t>Signal generation</a:t>
            </a:r>
            <a:r>
              <a:rPr lang="en" sz="1100">
                <a:solidFill>
                  <a:schemeClr val="dk1"/>
                </a:solidFill>
              </a:rPr>
              <a:t> – multiple users, different arrival times.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rPr>
              <a:t>DOA/AOA estimation</a:t>
            </a:r>
            <a:r>
              <a:rPr lang="en" sz="1100">
                <a:solidFill>
                  <a:schemeClr val="dk1"/>
                </a:solidFill>
              </a:rPr>
              <a:t> – MUSIC algorithm pinpoints signal direction.</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rPr>
              <a:t>RL algorithm</a:t>
            </a:r>
            <a:r>
              <a:rPr lang="en" sz="1100">
                <a:solidFill>
                  <a:schemeClr val="dk1"/>
                </a:solidFill>
              </a:rPr>
              <a:t> – dynamically scales user signals, adjusting beamforming weights in real time.</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rPr>
              <a:t>Beam steering</a:t>
            </a:r>
            <a:r>
              <a:rPr lang="en" sz="1100">
                <a:solidFill>
                  <a:schemeClr val="dk1"/>
                </a:solidFill>
              </a:rPr>
              <a:t> – AI aligns beam to user with lowest power usage.</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rPr>
              <a:t>Noise/interference management</a:t>
            </a:r>
            <a:r>
              <a:rPr lang="en" sz="1100">
                <a:solidFill>
                  <a:schemeClr val="dk1"/>
                </a:solidFill>
              </a:rPr>
              <a:t> – evaluates robustness in practical conditions.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Data &amp; Rewards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Received Signals:</a:t>
            </a:r>
            <a:r>
              <a:rPr lang="en" sz="1100">
                <a:solidFill>
                  <a:schemeClr val="dk1"/>
                </a:solidFill>
              </a:rPr>
              <a:t> The raw signals collected from all active users within the network's range.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Angle of Arrival (AOA):</a:t>
            </a:r>
            <a:r>
              <a:rPr lang="en" sz="1100">
                <a:solidFill>
                  <a:schemeClr val="dk1"/>
                </a:solidFill>
              </a:rPr>
              <a:t> The calculated direction from which each user's signal is arriving at the base station's antenna array. This is a crucial piece of spatial information.</a:t>
            </a:r>
            <a:endParaRPr sz="11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b="1" lang="en" sz="1100">
                <a:solidFill>
                  <a:schemeClr val="dk1"/>
                </a:solidFill>
              </a:rPr>
              <a:t>Power Levels / Power Signature:</a:t>
            </a:r>
            <a:r>
              <a:rPr lang="en" sz="1100">
                <a:solidFill>
                  <a:schemeClr val="dk1"/>
                </a:solidFill>
              </a:rPr>
              <a:t> The computed power of each user's signal. This is the most critical data point for the AI's decision-making process.</a:t>
            </a:r>
            <a:endParaRPr sz="1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idx="1" type="body"/>
          </p:nvPr>
        </p:nvSpPr>
        <p:spPr>
          <a:xfrm>
            <a:off x="311700" y="141925"/>
            <a:ext cx="8679000" cy="4855800"/>
          </a:xfrm>
          <a:prstGeom prst="rect">
            <a:avLst/>
          </a:prstGeom>
        </p:spPr>
        <p:txBody>
          <a:bodyPr anchorCtr="0" anchor="t" bIns="91425" lIns="91425" spcFirstLastPara="1" rIns="91425" wrap="square" tIns="91425">
            <a:normAutofit fontScale="55000" lnSpcReduction="10000"/>
          </a:bodyPr>
          <a:lstStyle/>
          <a:p>
            <a:pPr indent="0" lvl="0" marL="0" rtl="0" algn="l">
              <a:spcBef>
                <a:spcPts val="1800"/>
              </a:spcBef>
              <a:spcAft>
                <a:spcPts val="0"/>
              </a:spcAft>
              <a:buClr>
                <a:schemeClr val="dk1"/>
              </a:buClr>
              <a:buSzPct val="61111"/>
              <a:buFont typeface="Arial"/>
              <a:buNone/>
            </a:pPr>
            <a:r>
              <a:rPr lang="en">
                <a:solidFill>
                  <a:schemeClr val="dk1"/>
                </a:solidFill>
              </a:rPr>
              <a:t>Mathematical Framework</a:t>
            </a:r>
            <a:endParaRPr>
              <a:solidFill>
                <a:schemeClr val="dk1"/>
              </a:solidFill>
            </a:endParaRPr>
          </a:p>
          <a:p>
            <a:pPr indent="-291465" lvl="0" marL="457200" rtl="0" algn="l">
              <a:spcBef>
                <a:spcPts val="1200"/>
              </a:spcBef>
              <a:spcAft>
                <a:spcPts val="0"/>
              </a:spcAft>
              <a:buClr>
                <a:schemeClr val="dk1"/>
              </a:buClr>
              <a:buSzPct val="100000"/>
              <a:buChar char="●"/>
            </a:pPr>
            <a:r>
              <a:rPr b="1" lang="en">
                <a:solidFill>
                  <a:schemeClr val="dk1"/>
                </a:solidFill>
              </a:rPr>
              <a:t>Array Factor (AF)</a:t>
            </a:r>
            <a:r>
              <a:rPr lang="en">
                <a:solidFill>
                  <a:schemeClr val="dk1"/>
                </a:solidFill>
              </a:rPr>
              <a:t>: models beam response of the antenna.</a:t>
            </a:r>
            <a:br>
              <a:rPr lang="en">
                <a:solidFill>
                  <a:schemeClr val="dk1"/>
                </a:solidFill>
              </a:rPr>
            </a:br>
            <a:endParaRPr>
              <a:solidFill>
                <a:schemeClr val="dk1"/>
              </a:solidFill>
            </a:endParaRPr>
          </a:p>
          <a:p>
            <a:pPr indent="-291465" lvl="0" marL="457200" rtl="0" algn="l">
              <a:spcBef>
                <a:spcPts val="0"/>
              </a:spcBef>
              <a:spcAft>
                <a:spcPts val="0"/>
              </a:spcAft>
              <a:buClr>
                <a:schemeClr val="dk1"/>
              </a:buClr>
              <a:buSzPct val="100000"/>
              <a:buChar char="●"/>
            </a:pPr>
            <a:r>
              <a:rPr b="1" lang="en">
                <a:solidFill>
                  <a:schemeClr val="dk1"/>
                </a:solidFill>
              </a:rPr>
              <a:t>Optimization problem</a:t>
            </a:r>
            <a:r>
              <a:rPr lang="en">
                <a:solidFill>
                  <a:schemeClr val="dk1"/>
                </a:solidFill>
              </a:rPr>
              <a:t>: minimize total transmit power while satisfying QoS constraints (SINR ≥ γ, rate ≥ R).</a:t>
            </a:r>
            <a:br>
              <a:rPr lang="en">
                <a:solidFill>
                  <a:schemeClr val="dk1"/>
                </a:solidFill>
              </a:rPr>
            </a:br>
            <a:endParaRPr>
              <a:solidFill>
                <a:schemeClr val="dk1"/>
              </a:solidFill>
            </a:endParaRPr>
          </a:p>
          <a:p>
            <a:pPr indent="-291465" lvl="0" marL="457200" rtl="0" algn="l">
              <a:spcBef>
                <a:spcPts val="0"/>
              </a:spcBef>
              <a:spcAft>
                <a:spcPts val="0"/>
              </a:spcAft>
              <a:buClr>
                <a:schemeClr val="dk1"/>
              </a:buClr>
              <a:buSzPct val="100000"/>
              <a:buChar char="●"/>
            </a:pPr>
            <a:r>
              <a:rPr b="1" lang="en">
                <a:solidFill>
                  <a:schemeClr val="dk1"/>
                </a:solidFill>
              </a:rPr>
              <a:t>RL training</a:t>
            </a:r>
            <a:r>
              <a:rPr lang="en">
                <a:solidFill>
                  <a:schemeClr val="dk1"/>
                </a:solidFill>
              </a:rPr>
              <a:t>:</a:t>
            </a:r>
            <a:br>
              <a:rPr lang="en">
                <a:solidFill>
                  <a:schemeClr val="dk1"/>
                </a:solidFill>
              </a:rPr>
            </a:br>
            <a:endParaRPr>
              <a:solidFill>
                <a:schemeClr val="dk1"/>
              </a:solidFill>
            </a:endParaRPr>
          </a:p>
          <a:p>
            <a:pPr indent="-291465" lvl="1" marL="914400" rtl="0" algn="l">
              <a:spcBef>
                <a:spcPts val="0"/>
              </a:spcBef>
              <a:spcAft>
                <a:spcPts val="0"/>
              </a:spcAft>
              <a:buClr>
                <a:schemeClr val="dk1"/>
              </a:buClr>
              <a:buSzPct val="100000"/>
              <a:buChar char="○"/>
            </a:pPr>
            <a:r>
              <a:rPr lang="en" sz="1800">
                <a:solidFill>
                  <a:schemeClr val="dk1"/>
                </a:solidFill>
              </a:rPr>
              <a:t>Training phase: learns optimal beamforming weights from CSI.</a:t>
            </a:r>
            <a:br>
              <a:rPr lang="en" sz="1800">
                <a:solidFill>
                  <a:schemeClr val="dk1"/>
                </a:solidFill>
              </a:rPr>
            </a:br>
            <a:endParaRPr sz="1800">
              <a:solidFill>
                <a:schemeClr val="dk1"/>
              </a:solidFill>
            </a:endParaRPr>
          </a:p>
          <a:p>
            <a:pPr indent="-291465" lvl="1" marL="914400" rtl="0" algn="l">
              <a:spcBef>
                <a:spcPts val="0"/>
              </a:spcBef>
              <a:spcAft>
                <a:spcPts val="0"/>
              </a:spcAft>
              <a:buClr>
                <a:schemeClr val="dk1"/>
              </a:buClr>
              <a:buSzPct val="100000"/>
              <a:buChar char="○"/>
            </a:pPr>
            <a:r>
              <a:rPr lang="en" sz="1800">
                <a:solidFill>
                  <a:schemeClr val="dk1"/>
                </a:solidFill>
              </a:rPr>
              <a:t>Execution phase: applies learned weights, adapts in real time.</a:t>
            </a:r>
            <a:br>
              <a:rPr lang="en" sz="1800">
                <a:solidFill>
                  <a:schemeClr val="dk1"/>
                </a:solidFill>
              </a:rPr>
            </a:br>
            <a:endParaRPr sz="1800">
              <a:solidFill>
                <a:schemeClr val="dk1"/>
              </a:solidFill>
            </a:endParaRPr>
          </a:p>
          <a:p>
            <a:pPr indent="-291465" lvl="0" marL="457200" rtl="0" algn="l">
              <a:spcBef>
                <a:spcPts val="0"/>
              </a:spcBef>
              <a:spcAft>
                <a:spcPts val="0"/>
              </a:spcAft>
              <a:buClr>
                <a:schemeClr val="dk1"/>
              </a:buClr>
              <a:buSzPct val="100000"/>
              <a:buChar char="●"/>
            </a:pPr>
            <a:r>
              <a:rPr b="1" lang="en">
                <a:solidFill>
                  <a:schemeClr val="dk1"/>
                </a:solidFill>
              </a:rPr>
              <a:t>16-QAM model</a:t>
            </a:r>
            <a:r>
              <a:rPr lang="en">
                <a:solidFill>
                  <a:schemeClr val="dk1"/>
                </a:solidFill>
              </a:rPr>
              <a:t>: BER and throughput equations used for evaluation.</a:t>
            </a:r>
            <a:br>
              <a:rPr lang="en">
                <a:solidFill>
                  <a:schemeClr val="dk1"/>
                </a:solidFill>
              </a:rPr>
            </a:br>
            <a:endParaRPr>
              <a:solidFill>
                <a:schemeClr val="dk1"/>
              </a:solidFill>
            </a:endParaRPr>
          </a:p>
          <a:p>
            <a:pPr indent="-291465" lvl="0" marL="457200" rtl="0" algn="l">
              <a:spcBef>
                <a:spcPts val="0"/>
              </a:spcBef>
              <a:spcAft>
                <a:spcPts val="0"/>
              </a:spcAft>
              <a:buClr>
                <a:schemeClr val="dk1"/>
              </a:buClr>
              <a:buSzPct val="100000"/>
              <a:buChar char="●"/>
            </a:pPr>
            <a:r>
              <a:rPr b="1" lang="en">
                <a:solidFill>
                  <a:schemeClr val="dk1"/>
                </a:solidFill>
              </a:rPr>
              <a:t>Throughput formula</a:t>
            </a:r>
            <a:r>
              <a:rPr lang="en">
                <a:solidFill>
                  <a:schemeClr val="dk1"/>
                </a:solidFill>
              </a:rPr>
              <a:t>: accounts for retransmissions and BER impact.</a:t>
            </a:r>
            <a:endParaRPr>
              <a:solidFill>
                <a:schemeClr val="dk1"/>
              </a:solidFill>
            </a:endParaRPr>
          </a:p>
          <a:p>
            <a:pPr indent="0" lvl="0" marL="0" rtl="0" algn="l">
              <a:spcBef>
                <a:spcPts val="1800"/>
              </a:spcBef>
              <a:spcAft>
                <a:spcPts val="0"/>
              </a:spcAft>
              <a:buNone/>
            </a:pPr>
            <a:r>
              <a:rPr lang="en">
                <a:solidFill>
                  <a:schemeClr val="dk1"/>
                </a:solidFill>
              </a:rPr>
              <a:t>Simulation Results</a:t>
            </a:r>
            <a:endParaRPr>
              <a:solidFill>
                <a:schemeClr val="dk1"/>
              </a:solidFill>
            </a:endParaRPr>
          </a:p>
          <a:p>
            <a:pPr indent="-291465" lvl="0" marL="457200" rtl="0" algn="l">
              <a:spcBef>
                <a:spcPts val="1200"/>
              </a:spcBef>
              <a:spcAft>
                <a:spcPts val="0"/>
              </a:spcAft>
              <a:buClr>
                <a:schemeClr val="dk1"/>
              </a:buClr>
              <a:buSzPct val="100000"/>
              <a:buChar char="●"/>
            </a:pPr>
            <a:r>
              <a:rPr b="1" lang="en">
                <a:solidFill>
                  <a:schemeClr val="dk1"/>
                </a:solidFill>
              </a:rPr>
              <a:t>BER vs Eb/No</a:t>
            </a:r>
            <a:r>
              <a:rPr lang="en">
                <a:solidFill>
                  <a:schemeClr val="dk1"/>
                </a:solidFill>
              </a:rPr>
              <a:t>: AI beamforming matches theoretical 16-QAM BER at high SNR; slight gap at low SNR due to real-world imperfections.</a:t>
            </a:r>
            <a:br>
              <a:rPr lang="en">
                <a:solidFill>
                  <a:schemeClr val="dk1"/>
                </a:solidFill>
              </a:rPr>
            </a:br>
            <a:endParaRPr>
              <a:solidFill>
                <a:schemeClr val="dk1"/>
              </a:solidFill>
            </a:endParaRPr>
          </a:p>
          <a:p>
            <a:pPr indent="-291465" lvl="0" marL="457200" rtl="0" algn="l">
              <a:spcBef>
                <a:spcPts val="0"/>
              </a:spcBef>
              <a:spcAft>
                <a:spcPts val="0"/>
              </a:spcAft>
              <a:buClr>
                <a:schemeClr val="dk1"/>
              </a:buClr>
              <a:buSzPct val="100000"/>
              <a:buChar char="●"/>
            </a:pPr>
            <a:r>
              <a:rPr b="1" lang="en">
                <a:solidFill>
                  <a:schemeClr val="dk1"/>
                </a:solidFill>
              </a:rPr>
              <a:t>Throughput vs Eb/No</a:t>
            </a:r>
            <a:r>
              <a:rPr lang="en">
                <a:solidFill>
                  <a:schemeClr val="dk1"/>
                </a:solidFill>
              </a:rPr>
              <a:t>: maintains throughput even at negative SNR values thanks to strong error correction.</a:t>
            </a:r>
            <a:br>
              <a:rPr lang="en">
                <a:solidFill>
                  <a:schemeClr val="dk1"/>
                </a:solidFill>
              </a:rPr>
            </a:br>
            <a:endParaRPr>
              <a:solidFill>
                <a:schemeClr val="dk1"/>
              </a:solidFill>
            </a:endParaRPr>
          </a:p>
          <a:p>
            <a:pPr indent="-291465" lvl="0" marL="457200" rtl="0" algn="l">
              <a:spcBef>
                <a:spcPts val="0"/>
              </a:spcBef>
              <a:spcAft>
                <a:spcPts val="0"/>
              </a:spcAft>
              <a:buClr>
                <a:schemeClr val="dk1"/>
              </a:buClr>
              <a:buSzPct val="100000"/>
              <a:buChar char="●"/>
            </a:pPr>
            <a:r>
              <a:rPr b="1" lang="en">
                <a:solidFill>
                  <a:schemeClr val="dk1"/>
                </a:solidFill>
              </a:rPr>
              <a:t>DOA/AOA plots</a:t>
            </a:r>
            <a:r>
              <a:rPr lang="en">
                <a:solidFill>
                  <a:schemeClr val="dk1"/>
                </a:solidFill>
              </a:rPr>
              <a:t>: show accurate direction estimation by AI.</a:t>
            </a:r>
            <a:br>
              <a:rPr lang="en">
                <a:solidFill>
                  <a:schemeClr val="dk1"/>
                </a:solidFill>
              </a:rPr>
            </a:br>
            <a:endParaRPr>
              <a:solidFill>
                <a:schemeClr val="dk1"/>
              </a:solidFill>
            </a:endParaRPr>
          </a:p>
          <a:p>
            <a:pPr indent="-291465" lvl="0" marL="457200" rtl="0" algn="l">
              <a:spcBef>
                <a:spcPts val="0"/>
              </a:spcBef>
              <a:spcAft>
                <a:spcPts val="0"/>
              </a:spcAft>
              <a:buClr>
                <a:schemeClr val="dk1"/>
              </a:buClr>
              <a:buSzPct val="100000"/>
              <a:buChar char="●"/>
            </a:pPr>
            <a:r>
              <a:rPr b="1" lang="en">
                <a:solidFill>
                  <a:schemeClr val="dk1"/>
                </a:solidFill>
              </a:rPr>
              <a:t>Beam patterns</a:t>
            </a:r>
            <a:r>
              <a:rPr lang="en">
                <a:solidFill>
                  <a:schemeClr val="dk1"/>
                </a:solidFill>
              </a:rPr>
              <a:t>: AI reduces sidelobes, focuses energy efficiently.</a:t>
            </a:r>
            <a:br>
              <a:rPr lang="en">
                <a:solidFill>
                  <a:schemeClr val="dk1"/>
                </a:solidFill>
              </a:rPr>
            </a:br>
            <a:endParaRPr>
              <a:solidFill>
                <a:schemeClr val="dk1"/>
              </a:solidFill>
            </a:endParaRPr>
          </a:p>
          <a:p>
            <a:pPr indent="-291465" lvl="0" marL="457200" rtl="0" algn="l">
              <a:spcBef>
                <a:spcPts val="0"/>
              </a:spcBef>
              <a:spcAft>
                <a:spcPts val="0"/>
              </a:spcAft>
              <a:buClr>
                <a:schemeClr val="dk1"/>
              </a:buClr>
              <a:buSzPct val="100000"/>
              <a:buChar char="●"/>
            </a:pPr>
            <a:r>
              <a:rPr b="1" lang="en">
                <a:solidFill>
                  <a:schemeClr val="dk1"/>
                </a:solidFill>
              </a:rPr>
              <a:t>Azimuth plots</a:t>
            </a:r>
            <a:r>
              <a:rPr lang="en">
                <a:solidFill>
                  <a:schemeClr val="dk1"/>
                </a:solidFill>
              </a:rPr>
              <a:t>: confirm AI successfully enhances main lobe, suppresses interference.</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idx="1" type="body"/>
          </p:nvPr>
        </p:nvSpPr>
        <p:spPr>
          <a:xfrm>
            <a:off x="311700" y="792600"/>
            <a:ext cx="8520600" cy="42228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AutoNum type="arabicPeriod"/>
            </a:pPr>
            <a:r>
              <a:rPr lang="en" sz="1600">
                <a:solidFill>
                  <a:schemeClr val="dk1"/>
                </a:solidFill>
              </a:rPr>
              <a:t>Deep Learning Beamforming Algorithm (DLBA): The Deep Learning Beamforming Algorithm builds on an artificial neural network that learns complicated spatial correlations essential to Massive MIMO systems. The built-in neural network accepts CSI and other related features as inputs, then provides the optimal beamforming weights.</a:t>
            </a:r>
            <a:endParaRPr sz="1600">
              <a:solidFill>
                <a:schemeClr val="dk1"/>
              </a:solidFill>
            </a:endParaRPr>
          </a:p>
        </p:txBody>
      </p:sp>
      <p:sp>
        <p:nvSpPr>
          <p:cNvPr id="104" name="Google Shape;104;p21"/>
          <p:cNvSpPr txBox="1"/>
          <p:nvPr>
            <p:ph type="title"/>
          </p:nvPr>
        </p:nvSpPr>
        <p:spPr>
          <a:xfrm>
            <a:off x="311700" y="147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Machine Learning-Based Beamforming Algorithms:</a:t>
            </a:r>
            <a:endParaRPr/>
          </a:p>
        </p:txBody>
      </p:sp>
      <p:pic>
        <p:nvPicPr>
          <p:cNvPr id="105" name="Google Shape;105;p21"/>
          <p:cNvPicPr preferRelativeResize="0"/>
          <p:nvPr/>
        </p:nvPicPr>
        <p:blipFill>
          <a:blip r:embed="rId3">
            <a:alphaModFix/>
          </a:blip>
          <a:stretch>
            <a:fillRect/>
          </a:stretch>
        </p:blipFill>
        <p:spPr>
          <a:xfrm>
            <a:off x="1093650" y="2341700"/>
            <a:ext cx="5689249" cy="2636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idx="1" type="body"/>
          </p:nvPr>
        </p:nvSpPr>
        <p:spPr>
          <a:xfrm>
            <a:off x="311700" y="274375"/>
            <a:ext cx="8520600" cy="4691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chemeClr val="dk1"/>
                </a:solidFill>
              </a:rPr>
              <a:t>2. Reinforcement Learning-Based Beamforming Algorithm (RLBA): Beamforming strategies are optimized iteratively with the help of Reinforcement Learning-Based Beamforming. State of the environment can be observed by beamformer, and then it determines actions (beamforming weights) in order to optimize system performance as a reward signal.</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spcBef>
                <a:spcPts val="1200"/>
              </a:spcBef>
              <a:spcAft>
                <a:spcPts val="1200"/>
              </a:spcAft>
              <a:buNone/>
            </a:pPr>
            <a:r>
              <a:rPr lang="en" sz="1600">
                <a:solidFill>
                  <a:schemeClr val="dk1"/>
                </a:solidFill>
              </a:rPr>
              <a:t>3.Clustering-Based Beamforming Algorithm (CBA): Clustering-Based Beamforming groups users with similar channel characteristics into clusters and beamforming weights are derived based on the centroid of each cluster. This method focuses on the similarities of channel responses within a group.</a:t>
            </a:r>
            <a:endParaRPr sz="1600">
              <a:solidFill>
                <a:schemeClr val="dk1"/>
              </a:solidFill>
            </a:endParaRPr>
          </a:p>
        </p:txBody>
      </p:sp>
      <p:pic>
        <p:nvPicPr>
          <p:cNvPr id="111" name="Google Shape;111;p22"/>
          <p:cNvPicPr preferRelativeResize="0"/>
          <p:nvPr/>
        </p:nvPicPr>
        <p:blipFill>
          <a:blip r:embed="rId3">
            <a:alphaModFix/>
          </a:blip>
          <a:stretch>
            <a:fillRect/>
          </a:stretch>
        </p:blipFill>
        <p:spPr>
          <a:xfrm>
            <a:off x="900725" y="1555975"/>
            <a:ext cx="6494125" cy="686500"/>
          </a:xfrm>
          <a:prstGeom prst="rect">
            <a:avLst/>
          </a:prstGeom>
          <a:noFill/>
          <a:ln>
            <a:noFill/>
          </a:ln>
        </p:spPr>
      </p:pic>
      <p:pic>
        <p:nvPicPr>
          <p:cNvPr id="112" name="Google Shape;112;p22"/>
          <p:cNvPicPr preferRelativeResize="0"/>
          <p:nvPr/>
        </p:nvPicPr>
        <p:blipFill>
          <a:blip r:embed="rId4">
            <a:alphaModFix/>
          </a:blip>
          <a:stretch>
            <a:fillRect/>
          </a:stretch>
        </p:blipFill>
        <p:spPr>
          <a:xfrm>
            <a:off x="928250" y="3758575"/>
            <a:ext cx="6091725" cy="57199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196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 Metrics:</a:t>
            </a:r>
            <a:endParaRPr/>
          </a:p>
        </p:txBody>
      </p:sp>
      <p:sp>
        <p:nvSpPr>
          <p:cNvPr id="118" name="Google Shape;118;p23"/>
          <p:cNvSpPr txBox="1"/>
          <p:nvPr>
            <p:ph idx="1" type="body"/>
          </p:nvPr>
        </p:nvSpPr>
        <p:spPr>
          <a:xfrm>
            <a:off x="311700" y="875275"/>
            <a:ext cx="8520600" cy="415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Three key performance metrics were selected to assess the algorithms: </a:t>
            </a:r>
            <a:endParaRPr sz="1500">
              <a:solidFill>
                <a:schemeClr val="dk1"/>
              </a:solidFill>
            </a:endParaRPr>
          </a:p>
          <a:p>
            <a:pPr indent="0" lvl="0" marL="0" rtl="0" algn="l">
              <a:spcBef>
                <a:spcPts val="1200"/>
              </a:spcBef>
              <a:spcAft>
                <a:spcPts val="0"/>
              </a:spcAft>
              <a:buNone/>
            </a:pPr>
            <a:r>
              <a:rPr lang="en" sz="1500">
                <a:solidFill>
                  <a:schemeClr val="dk1"/>
                </a:solidFill>
              </a:rPr>
              <a:t>● System Throughput: In bps, meaning the total transmission rate of data. </a:t>
            </a:r>
            <a:endParaRPr sz="1500">
              <a:solidFill>
                <a:schemeClr val="dk1"/>
              </a:solidFill>
            </a:endParaRPr>
          </a:p>
          <a:p>
            <a:pPr indent="0" lvl="0" marL="0" rtl="0" algn="l">
              <a:spcBef>
                <a:spcPts val="1200"/>
              </a:spcBef>
              <a:spcAft>
                <a:spcPts val="0"/>
              </a:spcAft>
              <a:buNone/>
            </a:pPr>
            <a:r>
              <a:rPr lang="en" sz="1500">
                <a:solidFill>
                  <a:schemeClr val="dk1"/>
                </a:solidFill>
              </a:rPr>
              <a:t>● Signal-to-Interference-plus-Noise Ratio (SINR): Measures the quality of received signal in comparison with interferes and noise. </a:t>
            </a:r>
            <a:endParaRPr sz="1500">
              <a:solidFill>
                <a:schemeClr val="dk1"/>
              </a:solidFill>
            </a:endParaRPr>
          </a:p>
          <a:p>
            <a:pPr indent="0" lvl="0" marL="0" rtl="0" algn="l">
              <a:spcBef>
                <a:spcPts val="1200"/>
              </a:spcBef>
              <a:spcAft>
                <a:spcPts val="0"/>
              </a:spcAft>
              <a:buNone/>
            </a:pPr>
            <a:r>
              <a:rPr lang="en" sz="1500">
                <a:solidFill>
                  <a:schemeClr val="dk1"/>
                </a:solidFill>
              </a:rPr>
              <a:t>● Bit Error Rate (BER): It is the ratio of erroneously received bits to total transmitted ones</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1200"/>
              </a:spcAft>
              <a:buNone/>
            </a:pPr>
            <a:r>
              <a:rPr lang="en" sz="1500">
                <a:solidFill>
                  <a:schemeClr val="dk1"/>
                </a:solidFill>
              </a:rPr>
              <a:t>The algorithms’ efficiency will be evaluated by the system throughput, SINR and BER key metrics. These statistics will offer an overall view of the impact that algorithms have on improving communication quality in Massive MIMO systems under a 5G environment.</a:t>
            </a:r>
            <a:endParaRPr sz="15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graphicFrame>
        <p:nvGraphicFramePr>
          <p:cNvPr id="123" name="Google Shape;123;p24"/>
          <p:cNvGraphicFramePr/>
          <p:nvPr/>
        </p:nvGraphicFramePr>
        <p:xfrm>
          <a:off x="417750" y="381925"/>
          <a:ext cx="3000000" cy="3000000"/>
        </p:xfrm>
        <a:graphic>
          <a:graphicData uri="http://schemas.openxmlformats.org/drawingml/2006/table">
            <a:tbl>
              <a:tblPr>
                <a:noFill/>
                <a:tableStyleId>{A24B6E33-A17A-4A27-9D2B-5D4F76A25C3E}</a:tableStyleId>
              </a:tblPr>
              <a:tblGrid>
                <a:gridCol w="2644550"/>
                <a:gridCol w="2644550"/>
                <a:gridCol w="2644550"/>
              </a:tblGrid>
              <a:tr h="715475">
                <a:tc>
                  <a:txBody>
                    <a:bodyPr/>
                    <a:lstStyle/>
                    <a:p>
                      <a:pPr indent="0" lvl="0" marL="0" rtl="0" algn="l">
                        <a:spcBef>
                          <a:spcPts val="0"/>
                        </a:spcBef>
                        <a:spcAft>
                          <a:spcPts val="0"/>
                        </a:spcAft>
                        <a:buNone/>
                      </a:pPr>
                      <a:r>
                        <a:rPr lang="en"/>
                        <a:t>Algorithm</a:t>
                      </a:r>
                      <a:endParaRPr/>
                    </a:p>
                  </a:txBody>
                  <a:tcPr marT="91425" marB="91425" marR="91425" marL="91425">
                    <a:solidFill>
                      <a:srgbClr val="CCCCCC"/>
                    </a:solidFill>
                  </a:tcPr>
                </a:tc>
                <a:tc>
                  <a:txBody>
                    <a:bodyPr/>
                    <a:lstStyle/>
                    <a:p>
                      <a:pPr indent="0" lvl="0" marL="0" rtl="0" algn="l">
                        <a:spcBef>
                          <a:spcPts val="0"/>
                        </a:spcBef>
                        <a:spcAft>
                          <a:spcPts val="0"/>
                        </a:spcAft>
                        <a:buNone/>
                      </a:pPr>
                      <a:r>
                        <a:rPr lang="en"/>
                        <a:t>Type</a:t>
                      </a:r>
                      <a:endParaRPr/>
                    </a:p>
                  </a:txBody>
                  <a:tcPr marT="91425" marB="91425" marR="91425" marL="91425">
                    <a:solidFill>
                      <a:srgbClr val="CCCCCC"/>
                    </a:solidFill>
                  </a:tcPr>
                </a:tc>
                <a:tc>
                  <a:txBody>
                    <a:bodyPr/>
                    <a:lstStyle/>
                    <a:p>
                      <a:pPr indent="0" lvl="0" marL="0" rtl="0" algn="l">
                        <a:spcBef>
                          <a:spcPts val="0"/>
                        </a:spcBef>
                        <a:spcAft>
                          <a:spcPts val="0"/>
                        </a:spcAft>
                        <a:buNone/>
                      </a:pPr>
                      <a:r>
                        <a:rPr lang="en"/>
                        <a:t>Key Features</a:t>
                      </a:r>
                      <a:endParaRPr/>
                    </a:p>
                  </a:txBody>
                  <a:tcPr marT="91425" marB="91425" marR="91425" marL="91425">
                    <a:solidFill>
                      <a:srgbClr val="CCCCCC"/>
                    </a:solidFill>
                  </a:tcPr>
                </a:tc>
              </a:tr>
              <a:tr h="688050">
                <a:tc>
                  <a:txBody>
                    <a:bodyPr/>
                    <a:lstStyle/>
                    <a:p>
                      <a:pPr indent="0" lvl="0" marL="0" rtl="0" algn="l">
                        <a:spcBef>
                          <a:spcPts val="0"/>
                        </a:spcBef>
                        <a:spcAft>
                          <a:spcPts val="0"/>
                        </a:spcAft>
                        <a:buNone/>
                      </a:pPr>
                      <a:r>
                        <a:rPr lang="en"/>
                        <a:t>Deep Learning Beamforming </a:t>
                      </a:r>
                      <a:endParaRPr/>
                    </a:p>
                  </a:txBody>
                  <a:tcPr marT="91425" marB="91425" marR="91425" marL="91425"/>
                </a:tc>
                <a:tc>
                  <a:txBody>
                    <a:bodyPr/>
                    <a:lstStyle/>
                    <a:p>
                      <a:pPr indent="0" lvl="0" marL="0" rtl="0" algn="l">
                        <a:spcBef>
                          <a:spcPts val="0"/>
                        </a:spcBef>
                        <a:spcAft>
                          <a:spcPts val="0"/>
                        </a:spcAft>
                        <a:buNone/>
                      </a:pPr>
                      <a:r>
                        <a:rPr lang="en"/>
                        <a:t>Neural Network-based</a:t>
                      </a:r>
                      <a:endParaRPr/>
                    </a:p>
                  </a:txBody>
                  <a:tcPr marT="91425" marB="91425" marR="91425" marL="91425"/>
                </a:tc>
                <a:tc>
                  <a:txBody>
                    <a:bodyPr/>
                    <a:lstStyle/>
                    <a:p>
                      <a:pPr indent="0" lvl="0" marL="0" rtl="0" algn="l">
                        <a:spcBef>
                          <a:spcPts val="0"/>
                        </a:spcBef>
                        <a:spcAft>
                          <a:spcPts val="0"/>
                        </a:spcAft>
                        <a:buNone/>
                      </a:pPr>
                      <a:r>
                        <a:rPr lang="en"/>
                        <a:t>- Utilizes a neural network to learn spatial relationships in CSI. Requires training on diverse datasets.</a:t>
                      </a:r>
                      <a:endParaRPr/>
                    </a:p>
                  </a:txBody>
                  <a:tcPr marT="91425" marB="91425" marR="91425" marL="91425"/>
                </a:tc>
              </a:tr>
              <a:tr h="688050">
                <a:tc>
                  <a:txBody>
                    <a:bodyPr/>
                    <a:lstStyle/>
                    <a:p>
                      <a:pPr indent="0" lvl="0" marL="0" rtl="0" algn="l">
                        <a:spcBef>
                          <a:spcPts val="0"/>
                        </a:spcBef>
                        <a:spcAft>
                          <a:spcPts val="0"/>
                        </a:spcAft>
                        <a:buNone/>
                      </a:pPr>
                      <a:r>
                        <a:rPr lang="en"/>
                        <a:t>Reinforcement Learning Based Beamforming</a:t>
                      </a:r>
                      <a:endParaRPr/>
                    </a:p>
                  </a:txBody>
                  <a:tcPr marT="91425" marB="91425" marR="91425" marL="91425"/>
                </a:tc>
                <a:tc>
                  <a:txBody>
                    <a:bodyPr/>
                    <a:lstStyle/>
                    <a:p>
                      <a:pPr indent="0" lvl="0" marL="0" rtl="0" algn="l">
                        <a:spcBef>
                          <a:spcPts val="0"/>
                        </a:spcBef>
                        <a:spcAft>
                          <a:spcPts val="0"/>
                        </a:spcAft>
                        <a:buNone/>
                      </a:pPr>
                      <a:r>
                        <a:rPr lang="en"/>
                        <a:t>Reinforcement Learning</a:t>
                      </a:r>
                      <a:endParaRPr/>
                    </a:p>
                  </a:txBody>
                  <a:tcPr marT="91425" marB="91425" marR="91425" marL="91425"/>
                </a:tc>
                <a:tc>
                  <a:txBody>
                    <a:bodyPr/>
                    <a:lstStyle/>
                    <a:p>
                      <a:pPr indent="0" lvl="0" marL="0" rtl="0" algn="l">
                        <a:spcBef>
                          <a:spcPts val="0"/>
                        </a:spcBef>
                        <a:spcAft>
                          <a:spcPts val="0"/>
                        </a:spcAft>
                        <a:buNone/>
                      </a:pPr>
                      <a:r>
                        <a:rPr lang="en"/>
                        <a:t>- Formulates beamforming as a sequential decision-making process.Learns through interaction with the environment.</a:t>
                      </a:r>
                      <a:endParaRPr/>
                    </a:p>
                  </a:txBody>
                  <a:tcPr marT="91425" marB="91425" marR="91425" marL="91425"/>
                </a:tc>
              </a:tr>
              <a:tr h="688050">
                <a:tc>
                  <a:txBody>
                    <a:bodyPr/>
                    <a:lstStyle/>
                    <a:p>
                      <a:pPr indent="0" lvl="0" marL="0" rtl="0" algn="l">
                        <a:spcBef>
                          <a:spcPts val="0"/>
                        </a:spcBef>
                        <a:spcAft>
                          <a:spcPts val="0"/>
                        </a:spcAft>
                        <a:buNone/>
                      </a:pPr>
                      <a:r>
                        <a:rPr lang="en"/>
                        <a:t>Clustering-Based Beamforming</a:t>
                      </a:r>
                      <a:endParaRPr/>
                    </a:p>
                  </a:txBody>
                  <a:tcPr marT="91425" marB="91425" marR="91425" marL="91425"/>
                </a:tc>
                <a:tc>
                  <a:txBody>
                    <a:bodyPr/>
                    <a:lstStyle/>
                    <a:p>
                      <a:pPr indent="0" lvl="0" marL="0" rtl="0" algn="l">
                        <a:spcBef>
                          <a:spcPts val="0"/>
                        </a:spcBef>
                        <a:spcAft>
                          <a:spcPts val="0"/>
                        </a:spcAft>
                        <a:buNone/>
                      </a:pPr>
                      <a:r>
                        <a:rPr lang="en"/>
                        <a:t>Clustering</a:t>
                      </a:r>
                      <a:endParaRPr/>
                    </a:p>
                  </a:txBody>
                  <a:tcPr marT="91425" marB="91425" marR="91425" marL="91425"/>
                </a:tc>
                <a:tc>
                  <a:txBody>
                    <a:bodyPr/>
                    <a:lstStyle/>
                    <a:p>
                      <a:pPr indent="0" lvl="0" marL="0" rtl="0" algn="l">
                        <a:spcBef>
                          <a:spcPts val="0"/>
                        </a:spcBef>
                        <a:spcAft>
                          <a:spcPts val="0"/>
                        </a:spcAft>
                        <a:buNone/>
                      </a:pPr>
                      <a:r>
                        <a:rPr lang="en"/>
                        <a:t>- Groups users into clusters based on channel characteristics.Exploits similarities within clusters for beamforming.</a:t>
                      </a:r>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19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a:t>
            </a:r>
            <a:endParaRPr/>
          </a:p>
        </p:txBody>
      </p:sp>
      <p:sp>
        <p:nvSpPr>
          <p:cNvPr id="129" name="Google Shape;129;p25"/>
          <p:cNvSpPr txBox="1"/>
          <p:nvPr>
            <p:ph idx="1" type="body"/>
          </p:nvPr>
        </p:nvSpPr>
        <p:spPr>
          <a:xfrm>
            <a:off x="311700" y="858750"/>
            <a:ext cx="8520600" cy="37101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1200"/>
              </a:spcAft>
              <a:buNone/>
            </a:pPr>
            <a:r>
              <a:rPr lang="en" sz="1300">
                <a:solidFill>
                  <a:schemeClr val="dk1"/>
                </a:solidFill>
              </a:rPr>
              <a:t>In doing so for this study, we use a well-rounded dataset of CSI which were collected from an MIMO system that is put in the simulated environment of 5G. The dataset covers a wide range of situations, such as multiple user distributions, motion patterns and channel configurations so that our machine learning based beamforming algorithm has been validated in various scenarios demonstrating its generality. The CSI data is a collection of matrices that represent the channel response between multiple antennas at base stations and corresponding ones on user devices. Each matrix represents the channel characteristics, including amplitude and phase; hence we can model the spatial effects of wireless communication. The training and evaluation phases are facilitated by preprocessing the dataset to deal with noise, outliers absence values </a:t>
            </a:r>
            <a:endParaRPr sz="13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